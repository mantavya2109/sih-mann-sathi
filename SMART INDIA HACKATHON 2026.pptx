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EBA44-9501-4476-8810-C9C4D5364C6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0A052-5AD8-4309-A5F4-118D733DB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0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6F89-21B2-135E-9ED5-EE9CCA5F7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7D916-96A9-F236-9510-C1D8E8FA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22A7F-ADD0-ECB3-155F-CCF8A068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1B53A-3739-8232-4F02-83F1D65F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54F1-4135-B112-A9F0-CCAF19CC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79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F146-857F-7425-0958-1F1EE318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4A7BB-812B-6CF3-171F-58FED81ED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40EAE-962C-BC78-1E49-73D94E9E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8462C-3E43-743A-11B7-EF1FBCBF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5C998-831E-5901-08A0-864737C6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51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6E12-1F21-2D48-914A-4471098F8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9F5FB-375F-AF23-264D-82836A36D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2A413-881D-681A-D20A-F190557F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CC03-B2FA-64F7-160A-F201AE92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AA22-442F-2E80-7667-9025A119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29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E7FD1-44DB-C28E-A74C-96DFD621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E8642-92DD-4FE6-6B31-A6DECFFFD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BD984-995C-F203-BBFF-06949AFD2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C06A3-5679-8DFE-4A39-E77E419C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C3E7E-D837-3AF9-E17F-CB088D51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5FFA0-33D2-CE59-DAC0-687FB231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82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3025-363B-DB2B-80C5-CC1F00B7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E7112-DD39-EDF6-4595-8D1F28959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5C041-A100-06C0-7124-39CD9D654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361C7-8EC7-77D1-1379-85FA6713C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DE072E-8DB5-BBC8-7C7E-C918DC0F3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32492-2C86-EBD4-F0C8-26C9FDD3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25623-6B2C-F436-8949-BFCF9055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F8364-1CDA-29C1-AD91-C0857985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E6E30-4CD9-A12E-F10A-3003C03F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DEEF6-B37F-86A1-0207-29FEDB72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BA773-99A4-9265-AE07-15869594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63A8F-CC29-026A-C19D-C2110457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789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3272D-E8F2-2C37-9A31-E44386EA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2BC2C-DAE2-0E1F-B170-C040EFE4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399EE-B530-871E-466F-F7338F86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01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9578C-7EA0-17AF-8B55-9069C05F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28B0-9E7E-4175-EAED-5672D0DFB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CC24C-4610-C648-ADF8-F1A2E4D5A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FB4B8-8712-3A08-DB1C-03F56BBB2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FB4E1-6C07-861C-4F08-3E6ACDA7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ACFC4-25CB-7196-F1B3-47A17556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47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AA3B-DBE9-8E5E-10BE-E381F47B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08DA6-3FD9-6E1A-629E-E3E392671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FCC5E-4185-C73A-7CD5-3E57ED4BC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3F49C-11E0-D2C3-9DF3-3F2DCF90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EF5F6-4186-CD38-4589-F37D806F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D24B7-04DC-837C-F113-7252D83B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57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018E-7CA4-7B7E-A7AF-4BC96B85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28623-009D-F9AF-D89D-359103715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62C90-BC67-E32E-24F7-21E51FAF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E982A-2FAD-D539-665E-FF4E8956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E6C2D-87A2-4727-6D2C-D9BFCE07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01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50E4D-35CA-8E90-6C56-EDBFE10B0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F74BA-AF64-0AA7-8415-8DF1E6ABD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410F1-6EA0-5F0A-789F-4759CF06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71B85-18AB-D216-474A-A6F1CA53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7892C-3161-E547-CE35-690D5E73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89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8ECC4-BD0D-C3FE-1F61-1CE72319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AB828-DBDF-0CDC-E2B4-3FD0A6F21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077D0-2628-F1B3-BF81-E7BBAE0C8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77DBE-CCD3-4332-8F26-264971DF9F0C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DBF4-A434-AD95-C740-942BEF957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65AFF-CBA2-E5AA-C701-CF5141F2F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CDE19-A800-42BA-B7F0-FF646C68B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76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ho.int/publications/i/item/9789290210177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who.int/publications/i/item/9789240120785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53003183_Mental_Health_Research_in_India_New_Challenges_and_the_Way_Forward" TargetMode="External"/><Relationship Id="rId5" Type="http://schemas.openxmlformats.org/officeDocument/2006/relationships/hyperlink" Target="https://www.medrxiv.org/content/10.1101/2025.02.19.25322432.full.pdf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pubmed.ncbi.nlm.nih.gov/40710231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9264235" y="1899309"/>
            <a:ext cx="2860502" cy="30593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475180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u="sng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 u="sng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0" y="1500"/>
            <a:ext cx="1361936" cy="64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5624"/>
            <a:ext cx="1125715" cy="92333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331286" y="1331267"/>
            <a:ext cx="8404162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ID:</a:t>
            </a:r>
            <a:r>
              <a:rPr lang="en-I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SIH26094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Title: </a:t>
            </a:r>
            <a:r>
              <a:rPr lang="en-IN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AI-Powered Dynamic Mental Health Monitoring and Distress Prediction System for Victims of Atrocities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Theme: </a:t>
            </a:r>
            <a:r>
              <a:rPr lang="en-IN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MedTech / BioTech / HealthTech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 Category: </a:t>
            </a:r>
            <a:r>
              <a:rPr lang="en-IN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ID: </a:t>
            </a:r>
            <a:r>
              <a:rPr lang="en-IN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[Team ID]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Name: </a:t>
            </a:r>
            <a:r>
              <a:rPr lang="en-IN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RepoX</a:t>
            </a:r>
            <a:endParaRPr sz="24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37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IN" sz="3600" b="1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MANN-SATHI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54201" y="3313471"/>
            <a:ext cx="7180659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IN" sz="1800" b="1" u="sng" strike="noStrike" cap="none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Proposed Solution</a:t>
            </a:r>
            <a:endParaRPr sz="1800" b="0" u="sng" strike="noStrike" cap="none" dirty="0">
              <a:solidFill>
                <a:schemeClr val="dk2"/>
              </a:solidFill>
              <a:latin typeface="Aptos" panose="020B0004020202020204" pitchFamily="34" charset="0"/>
              <a:sym typeface="Arial"/>
            </a:endParaRPr>
          </a:p>
          <a:p>
            <a:r>
              <a:rPr lang="en-IN" sz="1800" b="1" dirty="0">
                <a:latin typeface="Aptos" panose="020B0004020202020204" pitchFamily="34" charset="0"/>
              </a:rPr>
              <a:t>1. Multimodal AI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- Text + Voice + Acoustic + </a:t>
            </a:r>
            <a:r>
              <a:rPr lang="en-IN" sz="1800" dirty="0" err="1">
                <a:latin typeface="Aptos" panose="020B0004020202020204" pitchFamily="34" charset="0"/>
              </a:rPr>
              <a:t>Biosignal</a:t>
            </a:r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b="1" dirty="0">
                <a:latin typeface="Aptos" panose="020B0004020202020204" pitchFamily="34" charset="0"/>
              </a:rPr>
              <a:t>2. Dynamic distress tracking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- Continuous score across interactions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3. Human-in-the-loop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- High-risk cases reach counsellors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4. Supportive AI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- Conversation + motivation + resources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5. Secure case ecosystem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- Cases • Documents • Appointments • Support</a:t>
            </a:r>
          </a:p>
          <a:p>
            <a:pPr marL="342900" marR="0" lvl="0" indent="-215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u="sng" strike="noStrike" cap="none" dirty="0">
              <a:solidFill>
                <a:schemeClr val="dk2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9372" y="17907"/>
            <a:ext cx="1315575" cy="6211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4"/>
          <p:cNvCxnSpPr>
            <a:cxnSpLocks/>
          </p:cNvCxnSpPr>
          <p:nvPr/>
        </p:nvCxnSpPr>
        <p:spPr>
          <a:xfrm>
            <a:off x="182998" y="3066496"/>
            <a:ext cx="7151862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04" name="Google Shape;104;p14"/>
          <p:cNvSpPr txBox="1"/>
          <p:nvPr/>
        </p:nvSpPr>
        <p:spPr>
          <a:xfrm>
            <a:off x="154202" y="807335"/>
            <a:ext cx="7180658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IN" sz="1800" b="1" i="0" u="sng" strike="noStrike" cap="none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Proposed Overview</a:t>
            </a:r>
            <a:endParaRPr dirty="0">
              <a:latin typeface="Aptos" panose="020B0004020202020204" pitchFamily="34" charset="0"/>
            </a:endParaRPr>
          </a:p>
          <a:p>
            <a:r>
              <a:rPr lang="en-IN" sz="1800" b="1" dirty="0">
                <a:latin typeface="Aptos" panose="020B0004020202020204" pitchFamily="34" charset="0"/>
              </a:rPr>
              <a:t>1. Hidden distress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- Emotional distress often remains unspoken.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2. Scattered signals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- Text, voice and physiological signals tell different parts of the story.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3. Late intervention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- Counsellors may see escalation only after it becomes serious.</a:t>
            </a: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5624"/>
            <a:ext cx="1125715" cy="9233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4"/>
          <p:cNvCxnSpPr>
            <a:cxnSpLocks/>
          </p:cNvCxnSpPr>
          <p:nvPr/>
        </p:nvCxnSpPr>
        <p:spPr>
          <a:xfrm flipV="1">
            <a:off x="7334864" y="833929"/>
            <a:ext cx="0" cy="5724187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1B5B75A-1E93-FF89-0FB3-7B887C578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401" y="807335"/>
            <a:ext cx="3221567" cy="5724187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96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u="sng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9934" y="1501"/>
            <a:ext cx="1280001" cy="60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5624"/>
            <a:ext cx="1125715" cy="92333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651188" y="839157"/>
            <a:ext cx="2218485" cy="31020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11703566" y="1535900"/>
            <a:ext cx="243165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     FLOW</a:t>
            </a:r>
            <a:endParaRPr/>
          </a:p>
        </p:txBody>
      </p:sp>
      <p:cxnSp>
        <p:nvCxnSpPr>
          <p:cNvPr id="137" name="Google Shape;137;p15"/>
          <p:cNvCxnSpPr/>
          <p:nvPr/>
        </p:nvCxnSpPr>
        <p:spPr>
          <a:xfrm flipH="1">
            <a:off x="5503006" y="1346006"/>
            <a:ext cx="4867" cy="48614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138" name="Google Shape;138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8684" y="815785"/>
            <a:ext cx="5496513" cy="592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5C5BBB-4D37-C407-EC72-777C13A666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652" y="1227910"/>
            <a:ext cx="5245559" cy="5515771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55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u="sng">
                <a:solidFill>
                  <a:schemeClr val="dk2"/>
                </a:solidFill>
                <a:latin typeface="Aptos" panose="020B0004020202020204" pitchFamily="34" charset="0"/>
                <a:ea typeface="Times New Roman"/>
                <a:cs typeface="Times New Roman"/>
                <a:sym typeface="Times New Roman"/>
              </a:rPr>
              <a:t>FEASIBILITY AND VIABILITY</a:t>
            </a:r>
            <a:endParaRPr>
              <a:latin typeface="Aptos" panose="020B0004020202020204" pitchFamily="34" charset="0"/>
            </a:endParaRPr>
          </a:p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3398" y="1500"/>
            <a:ext cx="1366537" cy="645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5624"/>
            <a:ext cx="1125715" cy="9233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6"/>
          <p:cNvCxnSpPr/>
          <p:nvPr/>
        </p:nvCxnSpPr>
        <p:spPr>
          <a:xfrm>
            <a:off x="6096000" y="917706"/>
            <a:ext cx="0" cy="561800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50" name="Google Shape;150;p16"/>
          <p:cNvSpPr txBox="1"/>
          <p:nvPr/>
        </p:nvSpPr>
        <p:spPr>
          <a:xfrm>
            <a:off x="162064" y="1063838"/>
            <a:ext cx="2955883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accent2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1. Technical Feasibility</a:t>
            </a:r>
            <a:br>
              <a:rPr lang="en-IN" sz="18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Built on mature, well-documented tech (multilingual NLP, LSTM prediction, Twilio SMS/IVR), so a working prototype is achievable quickly and scales on standard cloud infrastructure.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3117944" y="1063837"/>
            <a:ext cx="2955881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accent2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2. Economical Feasibility</a:t>
            </a:r>
            <a:br>
              <a:rPr lang="en-IN" sz="18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Costs scale with usage (compute + SMS fees) rather than heavy upfront investment; automating triage reduces the cost-per-person of mental health outreach for NGOs/governments.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118177" y="1063838"/>
            <a:ext cx="2955877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accent2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3. Social Feasibility</a:t>
            </a:r>
            <a:br>
              <a:rPr lang="en-IN" sz="18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Offline-first, local-language design meets survivors where they are; delivery through already-trusted NGOs and transparent consent improves acceptance despite surveillance concerns.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9074054" y="1063838"/>
            <a:ext cx="2955878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accent2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4. Security Feasibility</a:t>
            </a:r>
            <a:br>
              <a:rPr lang="en-IN" sz="18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On-device/federated processing and end-to-end encryption keep raw sensitive data local, minimizing breach impact — backed by ongoing security audits given the stakes.</a:t>
            </a:r>
            <a:endParaRPr>
              <a:latin typeface="Aptos" panose="020B0004020202020204" pitchFamily="34" charset="0"/>
            </a:endParaRPr>
          </a:p>
        </p:txBody>
      </p:sp>
      <p:cxnSp>
        <p:nvCxnSpPr>
          <p:cNvPr id="154" name="Google Shape;154;p16"/>
          <p:cNvCxnSpPr/>
          <p:nvPr/>
        </p:nvCxnSpPr>
        <p:spPr>
          <a:xfrm>
            <a:off x="95425" y="3293806"/>
            <a:ext cx="11793962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5" name="Google Shape;155;p16"/>
          <p:cNvCxnSpPr/>
          <p:nvPr/>
        </p:nvCxnSpPr>
        <p:spPr>
          <a:xfrm>
            <a:off x="2920181" y="688258"/>
            <a:ext cx="0" cy="246846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6" name="Google Shape;156;p16"/>
          <p:cNvCxnSpPr/>
          <p:nvPr/>
        </p:nvCxnSpPr>
        <p:spPr>
          <a:xfrm>
            <a:off x="8967019" y="688258"/>
            <a:ext cx="0" cy="246846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57" name="Google Shape;157;p16"/>
          <p:cNvSpPr txBox="1"/>
          <p:nvPr/>
        </p:nvSpPr>
        <p:spPr>
          <a:xfrm>
            <a:off x="95425" y="3978216"/>
            <a:ext cx="2137283" cy="93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Data privacy &amp; breach risk</a:t>
            </a:r>
            <a:r>
              <a:rPr lang="en-IN" sz="11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sensitive data on vulnerable populations could be catastrophic if leaked or misused</a:t>
            </a:r>
            <a:endParaRPr>
              <a:latin typeface="Aptos" panose="020B0004020202020204" pitchFamily="34" charset="0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2708" y="4017587"/>
            <a:ext cx="702386" cy="70238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133969" y="5054354"/>
            <a:ext cx="213728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False positives/negatives in prediction</a:t>
            </a:r>
            <a:r>
              <a:rPr lang="en-IN" sz="11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misclassified risk delays real help or causes false alarms.</a:t>
            </a:r>
            <a:endParaRPr>
              <a:latin typeface="Aptos" panose="020B0004020202020204" pitchFamily="34" charset="0"/>
            </a:endParaRPr>
          </a:p>
        </p:txBody>
      </p:sp>
      <p:pic>
        <p:nvPicPr>
          <p:cNvPr id="160" name="Google Shape;16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4652" y="5149275"/>
            <a:ext cx="928672" cy="92867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3127466" y="3978216"/>
            <a:ext cx="17883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Cultural &amp; linguistic bias</a:t>
            </a:r>
            <a:r>
              <a:rPr lang="en-IN" sz="11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non-representative data risks misreading distress across groups.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3117947" y="5054354"/>
            <a:ext cx="1788353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Low digital access &amp; trust deficit</a:t>
            </a:r>
            <a:r>
              <a:rPr lang="en-IN" sz="11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limited connectivity and surveillance wariness hinder adoption.</a:t>
            </a:r>
            <a:endParaRPr>
              <a:latin typeface="Aptos" panose="020B0004020202020204" pitchFamily="34" charset="0"/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15819" y="3853006"/>
            <a:ext cx="1117307" cy="110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62006" y="5207398"/>
            <a:ext cx="970125" cy="97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162064" y="3341558"/>
            <a:ext cx="50931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Font typeface="Noto Sans Symbols"/>
              <a:buChar char="❖"/>
            </a:pPr>
            <a:r>
              <a:rPr lang="en-IN" sz="1800">
                <a:solidFill>
                  <a:srgbClr val="5F497A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Potential Challenges &amp; Risks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158919" y="3874992"/>
            <a:ext cx="189583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Privacy-by-design architecture</a:t>
            </a:r>
            <a:r>
              <a:rPr lang="en-IN" sz="11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on-device processing + encryption to minimize breach risk.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9271819" y="3914001"/>
            <a:ext cx="1895837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Community-calibrated models</a:t>
            </a:r>
            <a:r>
              <a:rPr lang="en-IN" sz="11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local NGO input to reduce bias.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7945319" y="5420922"/>
            <a:ext cx="189583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NGO-led trust building &amp; offline access</a:t>
            </a:r>
            <a:r>
              <a:rPr lang="en-IN" sz="11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SMS/IVR + trusted partners for reach and trust.</a:t>
            </a:r>
            <a:endParaRPr>
              <a:latin typeface="Aptos" panose="020B0004020202020204" pitchFamily="34" charset="0"/>
            </a:endParaRPr>
          </a:p>
        </p:txBody>
      </p:sp>
      <p:pic>
        <p:nvPicPr>
          <p:cNvPr id="169" name="Google Shape;169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66243" y="3884086"/>
            <a:ext cx="1030800" cy="883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41494" y="5437333"/>
            <a:ext cx="1090016" cy="674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54966" y="5391331"/>
            <a:ext cx="1134040" cy="864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74824" y="3752136"/>
            <a:ext cx="1015152" cy="10151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6206278" y="3340673"/>
            <a:ext cx="57700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❖"/>
            </a:pPr>
            <a:r>
              <a:rPr lang="en-IN" sz="1800">
                <a:solidFill>
                  <a:schemeClr val="accent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Strategies For Overcoming These Challenges</a:t>
            </a:r>
            <a:endParaRPr>
              <a:latin typeface="Aptos" panose="020B00040202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617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pic>
        <p:nvPicPr>
          <p:cNvPr id="180" name="Google Shape;18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8010" y="1500"/>
            <a:ext cx="1411926" cy="666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5624"/>
            <a:ext cx="1125715" cy="92333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692278" y="1449779"/>
            <a:ext cx="3188885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Earlier crisis prevention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distress detected before it escalates to breakdown or self-harm.</a:t>
            </a:r>
            <a:endParaRPr dirty="0">
              <a:latin typeface="Aptos" panose="020B00040202020202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Wider mental health coverage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reaches survivors who would otherwise go undetected or untreated.</a:t>
            </a:r>
            <a:endParaRPr dirty="0">
              <a:latin typeface="Aptos" panose="020B00040202020202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Reduced burden on scarce professionals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AI triage directs limited </a:t>
            </a:r>
            <a:r>
              <a:rPr lang="en-IN" sz="1800" dirty="0" err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counselor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time to highest-need cases.</a:t>
            </a:r>
            <a:endParaRPr dirty="0">
              <a:latin typeface="Aptos" panose="020B00040202020202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Improved recovery outcomes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continuous tracking enables timely, personalized intervention.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065815" y="1487925"/>
            <a:ext cx="3018503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Low-cost, scalable deployment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SMS/IVR keeps reach high without expensive infrastructure.</a:t>
            </a:r>
            <a:endParaRPr dirty="0">
              <a:latin typeface="Aptos" panose="020B00040202020202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Accessible without stigma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passive monitoring helps those unwilling to self-report.</a:t>
            </a:r>
            <a:endParaRPr dirty="0">
              <a:latin typeface="Aptos" panose="020B00040202020202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Data-informed planning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anonymized trends help NGOs allocate resources efficiently.</a:t>
            </a:r>
            <a:endParaRPr dirty="0">
              <a:latin typeface="Aptos" panose="020B00040202020202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Privacy-first design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— on-device processing and encryption protect vulnerable users' data</a:t>
            </a:r>
            <a:endParaRPr dirty="0">
              <a:latin typeface="Aptos" panose="020B0004020202020204" pitchFamily="34" charset="0"/>
            </a:endParaRPr>
          </a:p>
        </p:txBody>
      </p:sp>
      <p:pic>
        <p:nvPicPr>
          <p:cNvPr id="184" name="Google Shape;18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1564" y="1766019"/>
            <a:ext cx="1105671" cy="107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12227" y="2791503"/>
            <a:ext cx="1335832" cy="1335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66513" y="4189891"/>
            <a:ext cx="1210722" cy="1210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12227" y="5563387"/>
            <a:ext cx="1241664" cy="1241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7"/>
          <p:cNvCxnSpPr/>
          <p:nvPr/>
        </p:nvCxnSpPr>
        <p:spPr>
          <a:xfrm>
            <a:off x="5722374" y="1278194"/>
            <a:ext cx="0" cy="5329083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189" name="Google Shape;18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80086" y="1638199"/>
            <a:ext cx="1411925" cy="141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80086" y="3050124"/>
            <a:ext cx="1226575" cy="122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flipH="1">
            <a:off x="9780086" y="4268773"/>
            <a:ext cx="1294613" cy="1294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flipH="1">
            <a:off x="9837285" y="5635675"/>
            <a:ext cx="1169376" cy="1169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1843471" y="916687"/>
            <a:ext cx="31611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Impacts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648401" y="916687"/>
            <a:ext cx="332833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dirty="0"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68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pic>
        <p:nvPicPr>
          <p:cNvPr id="201" name="Google Shape;20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9676" y="1500"/>
            <a:ext cx="1460259" cy="689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5624"/>
            <a:ext cx="1125715" cy="9233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18"/>
          <p:cNvCxnSpPr>
            <a:cxnSpLocks/>
          </p:cNvCxnSpPr>
          <p:nvPr/>
        </p:nvCxnSpPr>
        <p:spPr>
          <a:xfrm>
            <a:off x="6096000" y="835742"/>
            <a:ext cx="0" cy="490629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05" name="Google Shape;205;p18"/>
          <p:cNvSpPr txBox="1"/>
          <p:nvPr/>
        </p:nvSpPr>
        <p:spPr>
          <a:xfrm>
            <a:off x="6278066" y="1345402"/>
            <a:ext cx="6096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4. ResearchGate </a:t>
            </a:r>
            <a:r>
              <a:rPr lang="en-IN" sz="16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— Mental</a:t>
            </a:r>
            <a:r>
              <a:rPr lang="en-IN" sz="1600" i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Health Research in India: New Challenges and the Way Forward</a:t>
            </a:r>
            <a:r>
              <a:rPr lang="en-IN" sz="16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(2021) — India-specific context on mental health research gaps and priorities.</a:t>
            </a:r>
            <a:endParaRPr sz="1600" dirty="0">
              <a:latin typeface="Aptos" panose="020B0004020202020204" pitchFamily="34" charset="0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6233821" y="3041239"/>
            <a:ext cx="618449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5. WHO Transdiagnostic Digital Intervention </a:t>
            </a:r>
            <a:r>
              <a:rPr lang="en-IN" sz="16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(2025) — fictional-character conversational tool addressing low mood, stress, and anger from everyday stressors, adaptable across LMIC populations.</a:t>
            </a:r>
            <a:endParaRPr sz="1600" dirty="0">
              <a:latin typeface="Aptos" panose="020B0004020202020204" pitchFamily="34" charset="0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349016" y="3940768"/>
            <a:ext cx="535137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 err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Link:</a:t>
            </a:r>
            <a:r>
              <a:rPr lang="en-IN" sz="1600" b="1" u="sng" dirty="0" err="1">
                <a:solidFill>
                  <a:schemeClr val="hlink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  <a:hlinkClick r:id="rId5"/>
              </a:rPr>
              <a:t>https</a:t>
            </a:r>
            <a:r>
              <a:rPr lang="en-IN" sz="1600" b="1" u="sng" dirty="0">
                <a:solidFill>
                  <a:schemeClr val="hlink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  <a:hlinkClick r:id="rId5"/>
              </a:rPr>
              <a:t>://www.medrxiv.org/content/10.1101/2025.02.19.25322432.full.pdf</a:t>
            </a:r>
            <a:endParaRPr sz="1600" b="1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6349016" y="2244931"/>
            <a:ext cx="535137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 err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Link:</a:t>
            </a:r>
            <a:r>
              <a:rPr lang="en-IN" sz="1600" b="1" u="sng" dirty="0" err="1">
                <a:solidFill>
                  <a:schemeClr val="hlink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  <a:hlinkClick r:id="rId6"/>
              </a:rPr>
              <a:t>https</a:t>
            </a:r>
            <a:r>
              <a:rPr lang="en-IN" sz="1600" b="1" u="sng" dirty="0">
                <a:solidFill>
                  <a:schemeClr val="hlink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  <a:hlinkClick r:id="rId6"/>
              </a:rPr>
              <a:t>://www.researchgate.net/publication/353003183_Mental_Health_Research_in_India_New_Challenges_and_the_Way_Forward</a:t>
            </a:r>
            <a:endParaRPr sz="1600" b="1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5003A-31E3-8A47-82ED-5A9242A57E1A}"/>
              </a:ext>
            </a:extLst>
          </p:cNvPr>
          <p:cNvSpPr txBox="1"/>
          <p:nvPr/>
        </p:nvSpPr>
        <p:spPr>
          <a:xfrm>
            <a:off x="373625" y="1124890"/>
            <a:ext cx="53440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ptos" panose="020B0004020202020204" pitchFamily="34" charset="0"/>
              </a:rPr>
              <a:t>1. WHO | Psychological Self-Help Interventions, 2026</a:t>
            </a:r>
          </a:p>
          <a:p>
            <a:r>
              <a:rPr lang="en-IN" sz="1600" dirty="0">
                <a:latin typeface="Aptos" panose="020B0004020202020204" pitchFamily="34" charset="0"/>
              </a:rPr>
              <a:t>Evidence-based digital/self-help approaches can expand access to mental-health support, including in low-resource settings. </a:t>
            </a:r>
          </a:p>
          <a:p>
            <a:r>
              <a:rPr lang="en-IN" sz="1600" dirty="0">
                <a:latin typeface="Aptos" panose="020B0004020202020204" pitchFamily="34" charset="0"/>
                <a:hlinkClick r:id="rId7"/>
              </a:rPr>
              <a:t>WHO — Psychological Self-Help Interventions</a:t>
            </a:r>
            <a:endParaRPr lang="en-IN" sz="1600" dirty="0">
              <a:latin typeface="Aptos" panose="020B0004020202020204" pitchFamily="34" charset="0"/>
            </a:endParaRPr>
          </a:p>
          <a:p>
            <a:br>
              <a:rPr lang="en-IN" sz="1600" dirty="0">
                <a:latin typeface="Aptos" panose="020B0004020202020204" pitchFamily="34" charset="0"/>
              </a:rPr>
            </a:br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b="1" dirty="0">
                <a:latin typeface="Aptos" panose="020B0004020202020204" pitchFamily="34" charset="0"/>
              </a:rPr>
              <a:t>2. WHO | Mental Health in India, 2022</a:t>
            </a:r>
          </a:p>
          <a:p>
            <a:r>
              <a:rPr lang="en-IN" sz="1600" dirty="0">
                <a:latin typeface="Aptos" panose="020B0004020202020204" pitchFamily="34" charset="0"/>
              </a:rPr>
              <a:t>Provides India-specific context on mental-health needs and strengthening mental-health systems. </a:t>
            </a:r>
          </a:p>
          <a:p>
            <a:r>
              <a:rPr lang="en-IN" sz="1600" dirty="0">
                <a:latin typeface="Aptos" panose="020B0004020202020204" pitchFamily="34" charset="0"/>
                <a:hlinkClick r:id="rId8"/>
              </a:rPr>
              <a:t>WHO — Addressing Mental Health in India</a:t>
            </a:r>
            <a:endParaRPr lang="en-IN" sz="1600" dirty="0">
              <a:latin typeface="Aptos" panose="020B0004020202020204" pitchFamily="34" charset="0"/>
            </a:endParaRPr>
          </a:p>
          <a:p>
            <a:br>
              <a:rPr lang="en-IN" sz="1600" dirty="0">
                <a:latin typeface="Aptos" panose="020B0004020202020204" pitchFamily="34" charset="0"/>
              </a:rPr>
            </a:br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b="1" dirty="0">
                <a:latin typeface="Aptos" panose="020B0004020202020204" pitchFamily="34" charset="0"/>
              </a:rPr>
              <a:t>3. Multimodal Emotion Recognition Review</a:t>
            </a:r>
          </a:p>
          <a:p>
            <a:r>
              <a:rPr lang="en-IN" sz="1600" dirty="0">
                <a:latin typeface="Aptos" panose="020B0004020202020204" pitchFamily="34" charset="0"/>
              </a:rPr>
              <a:t>Research supports combining multiple modalities for richer emotion recognition than relying on a single signal. </a:t>
            </a:r>
          </a:p>
          <a:p>
            <a:r>
              <a:rPr lang="en-IN" sz="1600" dirty="0">
                <a:latin typeface="Aptos" panose="020B0004020202020204" pitchFamily="34" charset="0"/>
                <a:hlinkClick r:id="rId9"/>
              </a:rPr>
              <a:t>PubMed — Multimodal Emotion Recognition Review</a:t>
            </a:r>
            <a:endParaRPr lang="en-IN" sz="1600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B2B31-21C9-DA36-442C-3A1DED4485C6}"/>
              </a:ext>
            </a:extLst>
          </p:cNvPr>
          <p:cNvSpPr txBox="1"/>
          <p:nvPr/>
        </p:nvSpPr>
        <p:spPr>
          <a:xfrm>
            <a:off x="2766115" y="6168515"/>
            <a:ext cx="6948147" cy="3077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Technology Sources:</a:t>
            </a:r>
            <a:r>
              <a:rPr lang="en-IN" dirty="0">
                <a:latin typeface="Aptos" panose="020B0004020202020204" pitchFamily="34" charset="0"/>
              </a:rPr>
              <a:t> Hugging Face • </a:t>
            </a:r>
            <a:r>
              <a:rPr lang="en-IN" dirty="0" err="1">
                <a:latin typeface="Aptos" panose="020B0004020202020204" pitchFamily="34" charset="0"/>
              </a:rPr>
              <a:t>PyTorch</a:t>
            </a:r>
            <a:r>
              <a:rPr lang="en-IN" dirty="0">
                <a:latin typeface="Aptos" panose="020B0004020202020204" pitchFamily="34" charset="0"/>
              </a:rPr>
              <a:t> • </a:t>
            </a:r>
            <a:r>
              <a:rPr lang="en-IN" dirty="0" err="1">
                <a:latin typeface="Aptos" panose="020B0004020202020204" pitchFamily="34" charset="0"/>
              </a:rPr>
              <a:t>FastAPI</a:t>
            </a:r>
            <a:r>
              <a:rPr lang="en-IN" dirty="0">
                <a:latin typeface="Aptos" panose="020B0004020202020204" pitchFamily="34" charset="0"/>
              </a:rPr>
              <a:t> • </a:t>
            </a:r>
            <a:r>
              <a:rPr lang="en-IN" dirty="0" err="1">
                <a:latin typeface="Aptos" panose="020B0004020202020204" pitchFamily="34" charset="0"/>
              </a:rPr>
              <a:t>Supabase</a:t>
            </a:r>
            <a:endParaRPr lang="en-IN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Garamond</vt:lpstr>
      <vt:lpstr>Noto Sans Symbols</vt:lpstr>
      <vt:lpstr>Times New Roman</vt:lpstr>
      <vt:lpstr>Office Theme</vt:lpstr>
      <vt:lpstr>SMART INDIA HACKATHON 2026</vt:lpstr>
      <vt:lpstr>  MANN-SATHI</vt:lpstr>
      <vt:lpstr>TECHNICAL APPROACH</vt:lpstr>
      <vt:lpstr>FEASIBILITY AND VIABILITY</vt:lpstr>
      <vt:lpstr>IMPACT AND BENEFITS</vt:lpstr>
      <vt:lpstr>RESEARCH 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Mantavya Patel</dc:creator>
  <cp:lastModifiedBy>Mantavya Patel</cp:lastModifiedBy>
  <cp:revision>1</cp:revision>
  <dcterms:created xsi:type="dcterms:W3CDTF">2026-09-10T19:39:35Z</dcterms:created>
  <dcterms:modified xsi:type="dcterms:W3CDTF">2026-09-10T19:39:49Z</dcterms:modified>
</cp:coreProperties>
</file>